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6" r:id="rId9"/>
    <p:sldId id="269" r:id="rId10"/>
    <p:sldId id="271" r:id="rId11"/>
    <p:sldId id="272" r:id="rId12"/>
    <p:sldId id="273" r:id="rId13"/>
    <p:sldId id="27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08122" y="1697805"/>
            <a:ext cx="7772400" cy="1470025"/>
          </a:xfrm>
        </p:spPr>
        <p:txBody>
          <a:bodyPr wrap="square"/>
          <a:lstStyle/>
          <a:p>
            <a:pPr>
              <a:defRPr sz="3400" b="1">
                <a:solidFill>
                  <a:srgbClr val="1F334D"/>
                </a:solidFill>
              </a:defRPr>
            </a:pPr>
            <a:r>
              <a:t>An Unsupervised-Learning Approach to Adaptive Market-Neutral Pairs Trading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591232"/>
            <a:ext cx="6400800" cy="1752600"/>
          </a:xfrm>
        </p:spPr>
        <p:txBody>
          <a:bodyPr/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rPr dirty="0"/>
              <a:t>Lalith Aditya Devaraj · KU ID 2551111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rPr dirty="0"/>
              <a:t>MSc Data Science · Supervisor: Dr. Gordon Hunter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18999"/>
            <a:ext cx="8229600" cy="541439"/>
          </a:xfrm>
        </p:spPr>
        <p:txBody>
          <a:bodyPr>
            <a:normAutofit fontScale="90000"/>
          </a:bodyPr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rPr dirty="0"/>
              <a:t>What Is "Pairs Trading"?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0555" y="799435"/>
            <a:ext cx="11783961" cy="1664109"/>
          </a:xfrm>
        </p:spPr>
        <p:txBody>
          <a:bodyPr wrap="square">
            <a:normAutofit lnSpcReduction="10000"/>
          </a:bodyPr>
          <a:lstStyle/>
          <a:p>
            <a:pPr>
              <a:spcAft>
                <a:spcPts val="800"/>
              </a:spcAft>
            </a:pPr>
            <a:r>
              <a:rPr sz="1600" dirty="0"/>
              <a:t>Some pairs of companies tend to move up and down </a:t>
            </a:r>
            <a:r>
              <a:rPr sz="1600" b="1" dirty="0"/>
              <a:t>together</a:t>
            </a:r>
            <a:r>
              <a:rPr lang="en-IN" sz="1600" b="1" dirty="0"/>
              <a:t>.</a:t>
            </a:r>
            <a:r>
              <a:rPr sz="1600" dirty="0"/>
              <a:t> e.g. two big banks, or two oil companies.</a:t>
            </a:r>
          </a:p>
          <a:p>
            <a:pPr>
              <a:spcAft>
                <a:spcPts val="800"/>
              </a:spcAft>
            </a:pPr>
            <a:r>
              <a:rPr sz="1600" dirty="0"/>
              <a:t>Sometimes the two drift apart for a while, then come back together.</a:t>
            </a:r>
          </a:p>
          <a:p>
            <a:pPr>
              <a:spcAft>
                <a:spcPts val="800"/>
              </a:spcAft>
            </a:pPr>
            <a:r>
              <a:rPr sz="1600" dirty="0"/>
              <a:t>The trade: </a:t>
            </a:r>
            <a:r>
              <a:rPr sz="1600" b="1" dirty="0"/>
              <a:t>buy</a:t>
            </a:r>
            <a:r>
              <a:rPr sz="1600" dirty="0"/>
              <a:t> the one that has fallen behind, </a:t>
            </a:r>
            <a:r>
              <a:rPr sz="1600" b="1" dirty="0"/>
              <a:t>short</a:t>
            </a:r>
            <a:r>
              <a:rPr sz="1600" dirty="0"/>
              <a:t> (bet against) the one that has run ahead.</a:t>
            </a:r>
            <a:endParaRPr lang="en-US" sz="1600" dirty="0"/>
          </a:p>
          <a:p>
            <a:pPr>
              <a:spcAft>
                <a:spcPts val="800"/>
              </a:spcAft>
            </a:pPr>
            <a:r>
              <a:rPr lang="en-US" sz="1600" dirty="0"/>
              <a:t>I profit when the gap </a:t>
            </a:r>
            <a:r>
              <a:rPr lang="en-US" sz="1600" b="1" dirty="0"/>
              <a:t>closes again,</a:t>
            </a:r>
            <a:r>
              <a:rPr lang="en-US" sz="1600" dirty="0"/>
              <a:t> It wouldn’t matter whether the overall market goes up or down. This is why it's called </a:t>
            </a:r>
            <a:r>
              <a:rPr lang="en-US" sz="1600" b="1" dirty="0"/>
              <a:t>market-neutral</a:t>
            </a:r>
            <a:r>
              <a:rPr lang="en-US" sz="1600" dirty="0"/>
              <a:t>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F705DF9-2C6A-B9FC-5B30-C5F7AC9DC21E}"/>
              </a:ext>
            </a:extLst>
          </p:cNvPr>
          <p:cNvSpPr txBox="1">
            <a:spLocks/>
          </p:cNvSpPr>
          <p:nvPr/>
        </p:nvSpPr>
        <p:spPr>
          <a:xfrm>
            <a:off x="1568245" y="2878395"/>
            <a:ext cx="8229600" cy="66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 b="1">
                <a:solidFill>
                  <a:srgbClr val="1F334D"/>
                </a:solidFill>
              </a:defRPr>
            </a:pPr>
            <a:r>
              <a:rPr lang="en-IN" sz="3000" b="1" dirty="0">
                <a:solidFill>
                  <a:srgbClr val="1F334D"/>
                </a:solidFill>
              </a:rPr>
              <a:t>Example: Coca-Cola &amp; Pepsi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DB7627-6782-2089-2395-60B7E4BAFC67}"/>
              </a:ext>
            </a:extLst>
          </p:cNvPr>
          <p:cNvSpPr txBox="1">
            <a:spLocks/>
          </p:cNvSpPr>
          <p:nvPr/>
        </p:nvSpPr>
        <p:spPr>
          <a:xfrm>
            <a:off x="181898" y="3701846"/>
            <a:ext cx="11862618" cy="300375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1600" dirty="0"/>
              <a:t>Coca-Cola (KO) and Pepsi (PEP) sell a very similar product to a very similar customer, their stock prices normally drift up and down </a:t>
            </a:r>
            <a:r>
              <a:rPr lang="en-US" sz="1600" b="1" dirty="0"/>
              <a:t>together</a:t>
            </a:r>
            <a:r>
              <a:rPr lang="en-US" sz="1600" dirty="0"/>
              <a:t>.</a:t>
            </a:r>
          </a:p>
          <a:p>
            <a:pPr>
              <a:spcAft>
                <a:spcPts val="800"/>
              </a:spcAft>
            </a:pPr>
            <a:r>
              <a:rPr lang="en-US" sz="1600" dirty="0"/>
              <a:t>Suppose a new </a:t>
            </a:r>
            <a:r>
              <a:rPr lang="en-US" sz="1600" b="1" dirty="0"/>
              <a:t>sugar tax law</a:t>
            </a:r>
            <a:r>
              <a:rPr lang="en-US" sz="1600" dirty="0"/>
              <a:t> is announced. It raises costs for </a:t>
            </a:r>
            <a:r>
              <a:rPr lang="en-US" sz="1600" i="1" dirty="0"/>
              <a:t>any</a:t>
            </a:r>
            <a:r>
              <a:rPr lang="en-US" sz="1600" dirty="0"/>
              <a:t> sugary-drinks maker, so </a:t>
            </a:r>
            <a:r>
              <a:rPr lang="en-US" sz="1600" b="1" dirty="0"/>
              <a:t>both</a:t>
            </a:r>
            <a:r>
              <a:rPr lang="en-US" sz="1600" dirty="0"/>
              <a:t> stocks dip by a similar amount, the relationship between them stays intact.</a:t>
            </a:r>
          </a:p>
          <a:p>
            <a:pPr>
              <a:spcAft>
                <a:spcPts val="800"/>
              </a:spcAft>
            </a:pPr>
            <a:r>
              <a:rPr lang="en-US" sz="1600" dirty="0"/>
              <a:t>Now suppose Pepsi has a one-off </a:t>
            </a:r>
            <a:r>
              <a:rPr lang="en-US" sz="1600" i="1" dirty="0"/>
              <a:t>good</a:t>
            </a:r>
            <a:r>
              <a:rPr lang="en-US" sz="1600" dirty="0"/>
              <a:t> earnings surprise from its snacks business (nothing to do with soda or the law) and Pepsi's price jumps a bit more than Coke's. A </a:t>
            </a:r>
            <a:r>
              <a:rPr lang="en-US" sz="1600" b="1" dirty="0"/>
              <a:t>temporary gap</a:t>
            </a:r>
            <a:r>
              <a:rPr lang="en-US" sz="1600" dirty="0"/>
              <a:t> opens up between them.</a:t>
            </a:r>
          </a:p>
          <a:p>
            <a:pPr>
              <a:spcAft>
                <a:spcPts val="800"/>
              </a:spcAft>
            </a:pPr>
            <a:r>
              <a:rPr lang="en-US" sz="1600" dirty="0"/>
              <a:t>My strategy: </a:t>
            </a:r>
            <a:r>
              <a:rPr lang="en-US" sz="1600" b="1" dirty="0"/>
              <a:t>buy Coke, short Pepsi</a:t>
            </a:r>
            <a:r>
              <a:rPr lang="en-US" sz="1600" dirty="0"/>
              <a:t>, betting that once the one-off news fades, the two settle back into their normal relationship, the gap closes and I profit from that, regardless of whether the whole market went up or down that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2542" y="46038"/>
            <a:ext cx="8229600" cy="457199"/>
          </a:xfrm>
        </p:spPr>
        <p:txBody>
          <a:bodyPr>
            <a:normAutofit fontScale="90000"/>
          </a:bodyPr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rPr dirty="0"/>
              <a:t>What My Project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819" y="663678"/>
            <a:ext cx="12064181" cy="1971368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600" dirty="0"/>
              <a:t>I built a pipeline that finds and trades stock pairs </a:t>
            </a:r>
            <a:r>
              <a:rPr sz="1600" b="1" dirty="0"/>
              <a:t>automatically</a:t>
            </a:r>
            <a:r>
              <a:rPr sz="1600" dirty="0"/>
              <a:t>, instead of a person picking them by eye.</a:t>
            </a:r>
          </a:p>
          <a:p>
            <a:pPr>
              <a:spcAft>
                <a:spcPts val="800"/>
              </a:spcAft>
            </a:pPr>
            <a:r>
              <a:rPr lang="en-IN" sz="1600" dirty="0"/>
              <a:t>A</a:t>
            </a:r>
            <a:r>
              <a:rPr sz="1600" dirty="0"/>
              <a:t> </a:t>
            </a:r>
            <a:r>
              <a:rPr sz="1600" b="1" dirty="0"/>
              <a:t>Variational Autoencoder (VAE)</a:t>
            </a:r>
            <a:r>
              <a:rPr lang="en-IN" sz="1600" b="1" dirty="0"/>
              <a:t> </a:t>
            </a:r>
            <a:r>
              <a:rPr sz="1600" dirty="0"/>
              <a:t>a type of neural network</a:t>
            </a:r>
            <a:r>
              <a:rPr lang="en-IN" sz="1600" dirty="0"/>
              <a:t>, </a:t>
            </a:r>
            <a:r>
              <a:rPr sz="1600" dirty="0"/>
              <a:t>reads three months of a stock's price behavior and compresses it into a short list of numbers, called a </a:t>
            </a:r>
            <a:r>
              <a:rPr sz="1600" b="1" dirty="0"/>
              <a:t>latent representation</a:t>
            </a:r>
            <a:r>
              <a:rPr sz="1600" dirty="0"/>
              <a:t>.</a:t>
            </a:r>
          </a:p>
          <a:p>
            <a:pPr>
              <a:spcAft>
                <a:spcPts val="800"/>
              </a:spcAft>
            </a:pPr>
            <a:r>
              <a:rPr lang="en-IN" sz="1600" dirty="0"/>
              <a:t>The </a:t>
            </a:r>
            <a:r>
              <a:rPr sz="1600" dirty="0"/>
              <a:t>VAE learns a compressed numerical summary of "how this stock behaves." Two stocks with similar summaries have behaved similarly.</a:t>
            </a:r>
          </a:p>
          <a:p>
            <a:pPr>
              <a:spcAft>
                <a:spcPts val="800"/>
              </a:spcAft>
            </a:pPr>
            <a:r>
              <a:rPr sz="1600" dirty="0"/>
              <a:t>Stocks with similar latent representations are grouped together, and I only search for tradeable pairs </a:t>
            </a:r>
            <a:r>
              <a:rPr sz="1600" b="1" dirty="0"/>
              <a:t>inside</a:t>
            </a:r>
            <a:r>
              <a:rPr sz="1600" dirty="0"/>
              <a:t> those groups.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F4168A-6703-F3C7-B4FB-F56BC5784B65}"/>
              </a:ext>
            </a:extLst>
          </p:cNvPr>
          <p:cNvSpPr txBox="1">
            <a:spLocks/>
          </p:cNvSpPr>
          <p:nvPr/>
        </p:nvSpPr>
        <p:spPr>
          <a:xfrm>
            <a:off x="122903" y="3283641"/>
            <a:ext cx="11946194" cy="253918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  <a:buFont typeface="Arial"/>
              <a:buNone/>
            </a:pPr>
            <a:r>
              <a:rPr lang="en-US" sz="1600" dirty="0"/>
              <a:t>Two research questions:</a:t>
            </a:r>
          </a:p>
          <a:p>
            <a:pPr>
              <a:spcAft>
                <a:spcPts val="800"/>
              </a:spcAft>
              <a:buFont typeface="Arial"/>
              <a:buNone/>
            </a:pPr>
            <a:r>
              <a:rPr lang="en-US" sz="1600" dirty="0"/>
              <a:t>1. Can a deep learning neural network model (VAE) find </a:t>
            </a:r>
            <a:r>
              <a:rPr lang="en-US" sz="1600" b="1" dirty="0"/>
              <a:t>better</a:t>
            </a:r>
            <a:r>
              <a:rPr lang="en-US" sz="1600" dirty="0"/>
              <a:t> stock pairs than the traditional approach of comparing price correlation directly?</a:t>
            </a:r>
          </a:p>
          <a:p>
            <a:pPr>
              <a:spcAft>
                <a:spcPts val="800"/>
              </a:spcAft>
              <a:buFont typeface="Arial"/>
              <a:buNone/>
            </a:pPr>
            <a:r>
              <a:rPr lang="en-US" sz="1600" dirty="0"/>
              <a:t>2. Is the VAE's extra complexity actually needed, or would </a:t>
            </a:r>
            <a:r>
              <a:rPr lang="en-US" sz="1600" b="1" dirty="0"/>
              <a:t>GARCH</a:t>
            </a:r>
            <a:r>
              <a:rPr lang="en-US" sz="1600" dirty="0"/>
              <a:t>, a much simpler, classical statistical model, do just as well on the same data?</a:t>
            </a:r>
          </a:p>
          <a:p>
            <a:pPr>
              <a:spcAft>
                <a:spcPts val="800"/>
              </a:spcAft>
              <a:buFont typeface="Arial"/>
              <a:buNone/>
            </a:pPr>
            <a:r>
              <a:rPr lang="en-US" sz="1600" b="1" dirty="0"/>
              <a:t>GARCH</a:t>
            </a:r>
            <a:r>
              <a:rPr lang="en-US" sz="1600" dirty="0"/>
              <a:t> is an "old, standard" statistical model of how a stock's volatility (its riskiness) rises and falls over time, worked out with a handful of numbers rather than a trained neural network. I run both, side by side, and compare.</a:t>
            </a:r>
          </a:p>
          <a:p>
            <a:pPr>
              <a:spcAft>
                <a:spcPts val="800"/>
              </a:spcAft>
              <a:buFont typeface="Arial"/>
              <a:buNone/>
            </a:pPr>
            <a:r>
              <a:rPr lang="en-US" sz="1600" dirty="0"/>
              <a:t>Either VAE wins, or GARCH is just as good, is a useful, honest result.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F92CF1-F551-ED1A-A362-EADF78AFA974}"/>
              </a:ext>
            </a:extLst>
          </p:cNvPr>
          <p:cNvSpPr txBox="1">
            <a:spLocks/>
          </p:cNvSpPr>
          <p:nvPr/>
        </p:nvSpPr>
        <p:spPr>
          <a:xfrm>
            <a:off x="1902542" y="3044877"/>
            <a:ext cx="8229600" cy="384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 b="1">
                <a:solidFill>
                  <a:srgbClr val="1F334D"/>
                </a:solidFill>
              </a:defRPr>
            </a:pPr>
            <a:r>
              <a:rPr lang="en-IN" sz="3000" b="1" dirty="0">
                <a:solidFill>
                  <a:srgbClr val="1F334D"/>
                </a:solidFill>
              </a:rPr>
              <a:t>Why This Is Interesting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t>What Others Have Done Before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5806" y="1600200"/>
            <a:ext cx="11798710" cy="4525963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450" b="1" dirty="0" err="1"/>
              <a:t>Gatev</a:t>
            </a:r>
            <a:r>
              <a:rPr sz="1450" b="1" dirty="0"/>
              <a:t>, Goetzmann &amp; </a:t>
            </a:r>
            <a:r>
              <a:rPr sz="1450" b="1" dirty="0" err="1"/>
              <a:t>Rouwenhorst</a:t>
            </a:r>
            <a:r>
              <a:rPr sz="1450" b="1" dirty="0"/>
              <a:t> (2006)</a:t>
            </a:r>
            <a:r>
              <a:rPr lang="en-IN" sz="1450" dirty="0"/>
              <a:t> — </a:t>
            </a:r>
            <a:r>
              <a:rPr sz="1450" dirty="0"/>
              <a:t>the classic pairs-trading study; picked pairs by comparing price charts directly. Worked, but has weakened over time as more people copied it (Do &amp; Faff, 2010).</a:t>
            </a:r>
          </a:p>
          <a:p>
            <a:pPr>
              <a:spcAft>
                <a:spcPts val="800"/>
              </a:spcAft>
            </a:pPr>
            <a:r>
              <a:rPr sz="1450" b="1" dirty="0" err="1"/>
              <a:t>Vidyamurthy</a:t>
            </a:r>
            <a:r>
              <a:rPr sz="1450" b="1" dirty="0"/>
              <a:t> (2004) / Engle &amp; Granger (1987)</a:t>
            </a:r>
            <a:r>
              <a:rPr sz="1450" dirty="0"/>
              <a:t> — introduced </a:t>
            </a:r>
            <a:r>
              <a:rPr sz="1450" b="1" dirty="0"/>
              <a:t>cointegration testing</a:t>
            </a:r>
            <a:r>
              <a:rPr sz="1450" dirty="0"/>
              <a:t>, a statistical test that checks whether two prices have a genuinely stable, mean-reverting relationship, rather than just "looking" similar.</a:t>
            </a:r>
          </a:p>
          <a:p>
            <a:pPr>
              <a:spcAft>
                <a:spcPts val="800"/>
              </a:spcAft>
            </a:pPr>
            <a:r>
              <a:rPr sz="1450" b="1" dirty="0"/>
              <a:t>Kingma &amp; Welling (2014)</a:t>
            </a:r>
            <a:r>
              <a:rPr sz="1450" dirty="0"/>
              <a:t> — introduced the VAE, the neural network I use to build latent representations.</a:t>
            </a:r>
          </a:p>
          <a:p>
            <a:pPr>
              <a:spcAft>
                <a:spcPts val="800"/>
              </a:spcAft>
            </a:pPr>
            <a:r>
              <a:rPr sz="1450" b="1" dirty="0"/>
              <a:t>McInnes et al. (2017)</a:t>
            </a:r>
            <a:r>
              <a:rPr sz="1450" dirty="0"/>
              <a:t> — introduced </a:t>
            </a:r>
            <a:r>
              <a:rPr sz="1450" b="1" dirty="0"/>
              <a:t>HDBSCAN</a:t>
            </a:r>
            <a:r>
              <a:rPr sz="1450" dirty="0"/>
              <a:t>, the clustering algorithm I use to group similar stocks.</a:t>
            </a:r>
          </a:p>
          <a:p>
            <a:pPr>
              <a:spcAft>
                <a:spcPts val="800"/>
              </a:spcAft>
            </a:pPr>
            <a:r>
              <a:rPr sz="1450" b="1" dirty="0"/>
              <a:t>Sarmento &amp; Horta (2020)</a:t>
            </a:r>
            <a:r>
              <a:rPr sz="1450" dirty="0"/>
              <a:t> — closest precedent: used a linear dimensionality-reduction technique + a different clustering method (OPTICS) to pick pairs. My project takes a different comparison route: </a:t>
            </a:r>
            <a:r>
              <a:rPr sz="1450" b="1" dirty="0"/>
              <a:t>VAE vs GARCH</a:t>
            </a:r>
            <a:r>
              <a:rPr sz="1450" dirty="0"/>
              <a:t> (a classical volatility model) as the "does the </a:t>
            </a:r>
            <a:r>
              <a:rPr lang="en-IN" sz="1450" dirty="0"/>
              <a:t>neural network</a:t>
            </a:r>
            <a:r>
              <a:rPr sz="1450" dirty="0"/>
              <a:t> earn its keep" test, using </a:t>
            </a:r>
            <a:r>
              <a:rPr sz="1450" b="1" dirty="0"/>
              <a:t>HDBSCAN</a:t>
            </a:r>
            <a:r>
              <a:rPr sz="1450" dirty="0"/>
              <a:t> for clustering and a plain correlation baseline for reference.</a:t>
            </a:r>
          </a:p>
          <a:p>
            <a:pPr>
              <a:spcAft>
                <a:spcPts val="800"/>
              </a:spcAft>
            </a:pPr>
            <a:r>
              <a:rPr sz="1450" b="1" dirty="0"/>
              <a:t>Engle (1982) / Bollerslev (1986)</a:t>
            </a:r>
            <a:r>
              <a:rPr sz="1450" dirty="0"/>
              <a:t> — introduced ARCH and GARCH, the classical statistical models used here as the simple, well-understood comparison against the VAE.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4220" y="106839"/>
            <a:ext cx="8229600" cy="334962"/>
          </a:xfrm>
        </p:spPr>
        <p:txBody>
          <a:bodyPr>
            <a:normAutofit fontScale="90000"/>
          </a:bodyPr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rPr dirty="0"/>
              <a:t>The Pipeline, End to 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777240"/>
            <a:ext cx="9601200" cy="591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200"/>
              </a:spcAft>
              <a:buNone/>
            </a:pPr>
            <a:r>
              <a:rPr sz="1700" b="1" dirty="0">
                <a:solidFill>
                  <a:srgbClr val="1F334D"/>
                </a:solidFill>
                <a:latin typeface="Consolas"/>
              </a:rPr>
              <a:t>Daily Prices (S&amp;P 500)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2E74B5"/>
                </a:solidFill>
              </a:rPr>
              <a:t>▼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buNone/>
            </a:pPr>
            <a:r>
              <a:rPr sz="1700" b="1" dirty="0">
                <a:solidFill>
                  <a:srgbClr val="1F334D"/>
                </a:solidFill>
                <a:latin typeface="Consolas"/>
              </a:rPr>
              <a:t>Log Returns → 60-day windows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2E74B5"/>
                </a:solidFill>
              </a:rPr>
              <a:t>▼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1F334D"/>
                </a:solidFill>
                <a:latin typeface="Consolas"/>
              </a:rPr>
              <a:t>VAE (Variational Autoencoder)</a:t>
            </a:r>
          </a:p>
          <a:p>
            <a:pPr algn="ctr">
              <a:spcAft>
                <a:spcPts val="200"/>
              </a:spcAft>
              <a:buNone/>
            </a:pPr>
            <a:r>
              <a:rPr sz="1200" i="1" dirty="0">
                <a:solidFill>
                  <a:srgbClr val="333333"/>
                </a:solidFill>
              </a:rPr>
              <a:t>compresses each 60-day window into a 12-number latent representation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2E74B5"/>
                </a:solidFill>
              </a:rPr>
              <a:t>▼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1F334D"/>
                </a:solidFill>
                <a:latin typeface="Consolas"/>
              </a:rPr>
              <a:t>HDBSCAN</a:t>
            </a:r>
          </a:p>
          <a:p>
            <a:pPr algn="ctr">
              <a:spcAft>
                <a:spcPts val="200"/>
              </a:spcAft>
              <a:buNone/>
            </a:pPr>
            <a:r>
              <a:rPr sz="1200" i="1" dirty="0">
                <a:solidFill>
                  <a:srgbClr val="333333"/>
                </a:solidFill>
              </a:rPr>
              <a:t>groups stocks with similar latent representations into clusters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2E74B5"/>
                </a:solidFill>
              </a:rPr>
              <a:t>▼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1F334D"/>
                </a:solidFill>
                <a:latin typeface="Consolas"/>
              </a:rPr>
              <a:t>Engle-Granger Cointegration Test</a:t>
            </a:r>
          </a:p>
          <a:p>
            <a:pPr algn="ctr">
              <a:spcAft>
                <a:spcPts val="200"/>
              </a:spcAft>
              <a:buNone/>
            </a:pPr>
            <a:r>
              <a:rPr sz="1200" i="1" dirty="0">
                <a:solidFill>
                  <a:srgbClr val="333333"/>
                </a:solidFill>
              </a:rPr>
              <a:t>tests every pair within a cluster for a reliable, mean-reverting relationship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2E74B5"/>
                </a:solidFill>
              </a:rPr>
              <a:t>▼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1F334D"/>
                </a:solidFill>
                <a:latin typeface="Consolas"/>
              </a:rPr>
              <a:t>Trading Strategy</a:t>
            </a:r>
          </a:p>
          <a:p>
            <a:pPr algn="ctr">
              <a:spcAft>
                <a:spcPts val="200"/>
              </a:spcAft>
              <a:buNone/>
            </a:pPr>
            <a:r>
              <a:rPr sz="1200" i="1" dirty="0">
                <a:solidFill>
                  <a:srgbClr val="333333"/>
                </a:solidFill>
              </a:rPr>
              <a:t>buy the laggard / short the leader — market-neutral, volatility-based thresholds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2E74B5"/>
                </a:solidFill>
              </a:rPr>
              <a:t>▼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1F334D"/>
                </a:solidFill>
                <a:latin typeface="Consolas"/>
              </a:rPr>
              <a:t>Walk-Forward</a:t>
            </a:r>
            <a:r>
              <a:rPr lang="en-IN" sz="1700" b="1" dirty="0">
                <a:solidFill>
                  <a:srgbClr val="1F334D"/>
                </a:solidFill>
                <a:latin typeface="Consolas"/>
              </a:rPr>
              <a:t> </a:t>
            </a:r>
            <a:r>
              <a:rPr sz="1700" b="1" dirty="0">
                <a:solidFill>
                  <a:srgbClr val="1F334D"/>
                </a:solidFill>
                <a:latin typeface="Consolas"/>
              </a:rPr>
              <a:t>test (2020 onward)</a:t>
            </a:r>
          </a:p>
          <a:p>
            <a:pPr algn="ctr">
              <a:spcAft>
                <a:spcPts val="200"/>
              </a:spcAft>
              <a:buNone/>
            </a:pPr>
            <a:r>
              <a:rPr sz="1200" i="1" dirty="0">
                <a:solidFill>
                  <a:srgbClr val="333333"/>
                </a:solidFill>
              </a:rPr>
              <a:t>rolling out-of-sample test, chained into one continuous equity curve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buNone/>
            </a:pPr>
            <a:r>
              <a:rPr sz="1600" dirty="0">
                <a:solidFill>
                  <a:srgbClr val="2E74B5"/>
                </a:solidFill>
              </a:rPr>
              <a:t>▼</a:t>
            </a:r>
          </a:p>
          <a:p>
            <a:pPr algn="ctr">
              <a:spcBef>
                <a:spcPts val="400"/>
              </a:spcBef>
              <a:spcAft>
                <a:spcPts val="0"/>
              </a:spcAft>
              <a:buNone/>
            </a:pPr>
            <a:r>
              <a:rPr sz="1700" b="1" dirty="0">
                <a:solidFill>
                  <a:srgbClr val="1F334D"/>
                </a:solidFill>
                <a:latin typeface="Consolas"/>
              </a:rPr>
              <a:t>Benchmark</a:t>
            </a:r>
          </a:p>
          <a:p>
            <a:pPr algn="ctr">
              <a:spcAft>
                <a:spcPts val="200"/>
              </a:spcAft>
              <a:buNone/>
            </a:pPr>
            <a:r>
              <a:rPr sz="1200" i="1" dirty="0">
                <a:solidFill>
                  <a:srgbClr val="333333"/>
                </a:solidFill>
              </a:rPr>
              <a:t>VAE   vs   GARCH   vs   Correlation   vs   Buy &amp; Hold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t>My Plan, In 10 Steps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469454"/>
              </p:ext>
            </p:extLst>
          </p:nvPr>
        </p:nvGraphicFramePr>
        <p:xfrm>
          <a:off x="548640" y="1371600"/>
          <a:ext cx="11064239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8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67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38100" marB="38100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T="38100" marB="38100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T="38100" marB="38100"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r>
                        <a:rPr sz="1300"/>
                        <a:t>1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Data collection &amp; cleaning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✅ Done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r>
                        <a:rPr sz="1300"/>
                        <a:t>2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Train the VAE, validate the latent representation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✅ Done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r>
                        <a:rPr sz="1300"/>
                        <a:t>3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HDBSCAN clustering + stability check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✅ Done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r>
                        <a:rPr sz="1300"/>
                        <a:t>4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Engle-Granger cointegration &amp; pair selection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✅ Done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r>
                        <a:rPr sz="1300"/>
                        <a:t>5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Trading strategy (single pair + portfolio)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✅ Done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r>
                        <a:rPr sz="1300"/>
                        <a:t>6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lang="en-IN" sz="1300" dirty="0"/>
                        <a:t>Walk-forward </a:t>
                      </a:r>
                      <a:r>
                        <a:rPr sz="1300" dirty="0"/>
                        <a:t> (rolling, frozen VAE)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⏳ </a:t>
                      </a:r>
                      <a:r>
                        <a:rPr lang="en-IN" sz="1300" dirty="0"/>
                        <a:t>In progress</a:t>
                      </a:r>
                      <a:endParaRPr sz="1300" dirty="0"/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r>
                        <a:rPr sz="1300"/>
                        <a:t>7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Pair persistence &amp; turnover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⏳ Upcoming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r>
                        <a:rPr sz="1300"/>
                        <a:t>8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Transaction costs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⏳ Upcoming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r>
                        <a:rPr sz="1300"/>
                        <a:t>9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Benchmark: VAE vs GARCH vs Correlation vs Buy &amp; Hold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⏳ Upcoming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r>
                        <a:rPr sz="1300"/>
                        <a:t>10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Results compilation &amp; write-up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⏳ Upcoming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297" y="46038"/>
            <a:ext cx="11189110" cy="457199"/>
          </a:xfrm>
        </p:spPr>
        <p:txBody>
          <a:bodyPr>
            <a:normAutofit fontScale="90000"/>
          </a:bodyPr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rPr dirty="0"/>
              <a:t>Step 1 (Done)</a:t>
            </a:r>
            <a:r>
              <a:rPr lang="en-IN" dirty="0"/>
              <a:t>:</a:t>
            </a:r>
            <a:r>
              <a:rPr dirty="0"/>
              <a:t> Getting Clean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568" y="756981"/>
            <a:ext cx="11857702" cy="1986783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600" dirty="0"/>
              <a:t>Collected 11 years of daily prices (2015–2026) for the S&amp;P 500: </a:t>
            </a:r>
            <a:r>
              <a:rPr sz="1600" b="1" dirty="0"/>
              <a:t>462 companies</a:t>
            </a:r>
            <a:r>
              <a:rPr sz="1600" dirty="0"/>
              <a:t> kept (from 503 scraped — 40 removed for insufficient history, 1 for too much missing data).</a:t>
            </a:r>
          </a:p>
          <a:p>
            <a:pPr>
              <a:spcAft>
                <a:spcPts val="800"/>
              </a:spcAft>
            </a:pPr>
            <a:r>
              <a:rPr sz="1600" dirty="0"/>
              <a:t>Converted prices into </a:t>
            </a:r>
            <a:r>
              <a:rPr sz="1600" b="1" dirty="0"/>
              <a:t>log returns</a:t>
            </a:r>
            <a:r>
              <a:rPr sz="1600" dirty="0"/>
              <a:t>, then cut each company's history into 3-month (60-day) windows so </a:t>
            </a:r>
            <a:r>
              <a:rPr sz="1600" dirty="0" err="1"/>
              <a:t>behaviour</a:t>
            </a:r>
            <a:r>
              <a:rPr sz="1600" dirty="0"/>
              <a:t> is compared fairly, on the same scale.</a:t>
            </a:r>
          </a:p>
          <a:p>
            <a:pPr>
              <a:spcAft>
                <a:spcPts val="800"/>
              </a:spcAft>
            </a:pPr>
            <a:r>
              <a:rPr sz="1600" dirty="0"/>
              <a:t>Found </a:t>
            </a:r>
            <a:r>
              <a:rPr sz="1600" b="1" dirty="0"/>
              <a:t>14 single-day price jumps over 50%</a:t>
            </a:r>
            <a:r>
              <a:rPr sz="1600" dirty="0"/>
              <a:t>. Checked each one by hand instead of assuming they were data errors — they were real events (e.g. the PG&amp;E wildfire crash) — so I </a:t>
            </a:r>
            <a:r>
              <a:rPr sz="1600" b="1" dirty="0"/>
              <a:t>kept</a:t>
            </a:r>
            <a:r>
              <a:rPr sz="1600" dirty="0"/>
              <a:t> them rather than deleting them.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B740D8F-A10C-D427-168E-BB367E872678}"/>
              </a:ext>
            </a:extLst>
          </p:cNvPr>
          <p:cNvSpPr txBox="1">
            <a:spLocks/>
          </p:cNvSpPr>
          <p:nvPr/>
        </p:nvSpPr>
        <p:spPr>
          <a:xfrm>
            <a:off x="137653" y="2997508"/>
            <a:ext cx="11606981" cy="4571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 b="1">
                <a:solidFill>
                  <a:srgbClr val="1F334D"/>
                </a:solidFill>
              </a:defRPr>
            </a:pPr>
            <a:r>
              <a:rPr lang="en-US" sz="3000" b="1" dirty="0">
                <a:solidFill>
                  <a:srgbClr val="1F334D"/>
                </a:solidFill>
              </a:rPr>
              <a:t>Step 2 (Done): VAE &amp; the Latent Representation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AE82F6-3008-802B-A21A-8EDF1644A947}"/>
              </a:ext>
            </a:extLst>
          </p:cNvPr>
          <p:cNvSpPr txBox="1">
            <a:spLocks/>
          </p:cNvSpPr>
          <p:nvPr/>
        </p:nvSpPr>
        <p:spPr>
          <a:xfrm>
            <a:off x="191729" y="3782963"/>
            <a:ext cx="11808541" cy="272599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1450" dirty="0"/>
              <a:t>Trained a </a:t>
            </a:r>
            <a:r>
              <a:rPr lang="en-US" sz="1450" b="1" dirty="0"/>
              <a:t>VAE</a:t>
            </a:r>
            <a:r>
              <a:rPr lang="en-US" sz="1450" dirty="0"/>
              <a:t> (Variational Autoencoder) on the earliest data only (2015–2017), then </a:t>
            </a:r>
            <a:r>
              <a:rPr lang="en-US" sz="1450" b="1" dirty="0"/>
              <a:t>froze it</a:t>
            </a:r>
            <a:r>
              <a:rPr lang="en-US" sz="1450" dirty="0"/>
              <a:t> — it's never retrained, so later results can't "leak" future information.</a:t>
            </a:r>
          </a:p>
          <a:p>
            <a:pPr>
              <a:spcAft>
                <a:spcPts val="800"/>
              </a:spcAft>
            </a:pPr>
            <a:r>
              <a:rPr lang="en-US" sz="1450" b="1" dirty="0"/>
              <a:t>Plain English:</a:t>
            </a:r>
            <a:r>
              <a:rPr lang="en-US" sz="1450" dirty="0"/>
              <a:t> the VAE learns to squeeze 3 months of a stock's behavior down into 12 numbers (the latent representation), and back out again, as accurately as possible.</a:t>
            </a:r>
          </a:p>
          <a:p>
            <a:pPr>
              <a:spcAft>
                <a:spcPts val="800"/>
              </a:spcAft>
            </a:pPr>
            <a:r>
              <a:rPr lang="en-US" sz="1450" dirty="0"/>
              <a:t>Validated that the latent representation is </a:t>
            </a:r>
            <a:r>
              <a:rPr lang="en-US" sz="1450" i="1" dirty="0"/>
              <a:t>meaningful</a:t>
            </a:r>
            <a:r>
              <a:rPr lang="en-US" sz="1450" dirty="0"/>
              <a:t>, three ways:</a:t>
            </a:r>
          </a:p>
          <a:p>
            <a:pPr lvl="1">
              <a:spcAft>
                <a:spcPts val="800"/>
              </a:spcAft>
            </a:pPr>
            <a:r>
              <a:rPr lang="en-US" sz="1450" dirty="0"/>
              <a:t>Rebuilds a stock's pattern accurately, even for data it never trained on.</a:t>
            </a:r>
          </a:p>
          <a:p>
            <a:pPr lvl="1">
              <a:spcAft>
                <a:spcPts val="800"/>
              </a:spcAft>
            </a:pPr>
            <a:r>
              <a:rPr lang="en-US" sz="1450" dirty="0"/>
              <a:t>Similar stocks land close together in latent space (checked with a permutation test and t-SNE/UMAP visualizations).</a:t>
            </a:r>
          </a:p>
          <a:p>
            <a:pPr lvl="1">
              <a:spcAft>
                <a:spcPts val="800"/>
              </a:spcAft>
            </a:pPr>
            <a:r>
              <a:rPr lang="en-US" sz="1450" dirty="0"/>
              <a:t>Well-known real pairs (e.g. JPMorgan–Bank of America) end up close together — without ever being told they're related.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1403"/>
            <a:ext cx="11341510" cy="334962"/>
          </a:xfrm>
        </p:spPr>
        <p:txBody>
          <a:bodyPr>
            <a:normAutofit fontScale="90000"/>
          </a:bodyPr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rPr dirty="0"/>
              <a:t>Step 3 (Done)</a:t>
            </a:r>
            <a:r>
              <a:rPr lang="en-IN" dirty="0"/>
              <a:t>:</a:t>
            </a:r>
            <a:r>
              <a:rPr dirty="0"/>
              <a:t> HDBSCAN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820" y="646471"/>
            <a:ext cx="11754464" cy="2020977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600" b="1" dirty="0"/>
              <a:t>HDBSCAN</a:t>
            </a:r>
            <a:r>
              <a:rPr sz="1600" dirty="0"/>
              <a:t> (Hierarchical Density-Based Spatial Clustering) automatically groups stocks with similar latent representations and, importantly, is allowed to leave a stock </a:t>
            </a:r>
            <a:r>
              <a:rPr sz="1600" b="1" dirty="0"/>
              <a:t>unlabeled</a:t>
            </a:r>
            <a:r>
              <a:rPr sz="1600" dirty="0"/>
              <a:t> rather than force it into a group it doesn't belong to.</a:t>
            </a:r>
          </a:p>
          <a:p>
            <a:pPr>
              <a:spcAft>
                <a:spcPts val="800"/>
              </a:spcAft>
            </a:pPr>
            <a:r>
              <a:rPr sz="1600" dirty="0"/>
              <a:t>Result: </a:t>
            </a:r>
            <a:r>
              <a:rPr sz="1600" b="1" dirty="0"/>
              <a:t>10 clusters</a:t>
            </a:r>
            <a:r>
              <a:rPr sz="1600" dirty="0"/>
              <a:t> found (e.g. a clean banks group, a utilities group, a REITs group).</a:t>
            </a:r>
          </a:p>
          <a:p>
            <a:pPr>
              <a:spcAft>
                <a:spcPts val="800"/>
              </a:spcAft>
            </a:pPr>
            <a:r>
              <a:rPr sz="1600" dirty="0"/>
              <a:t>Checked the clusters aren't a fluke by re-running HDBSCAN 100 times on random 90% samples of the data</a:t>
            </a:r>
            <a:r>
              <a:rPr lang="en-IN" sz="1600" dirty="0"/>
              <a:t>. C</a:t>
            </a:r>
            <a:r>
              <a:rPr sz="1600" dirty="0"/>
              <a:t>lusters agreed </a:t>
            </a:r>
            <a:r>
              <a:rPr sz="1600" b="1" dirty="0"/>
              <a:t>86% of the time</a:t>
            </a:r>
            <a:r>
              <a:rPr sz="1600" dirty="0"/>
              <a:t> (Adjusted Rand Index).</a:t>
            </a:r>
          </a:p>
          <a:p>
            <a:pPr>
              <a:spcAft>
                <a:spcPts val="800"/>
              </a:spcAft>
            </a:pPr>
            <a:r>
              <a:rPr sz="1600" dirty="0"/>
              <a:t>Kept the </a:t>
            </a:r>
            <a:r>
              <a:rPr sz="1600" b="1" dirty="0"/>
              <a:t>8 most stable clusters → 80 stocks</a:t>
            </a:r>
            <a:r>
              <a:rPr sz="1600" dirty="0"/>
              <a:t> carried forward.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BDA316-19B8-08D3-62F8-3103E87CE7CB}"/>
              </a:ext>
            </a:extLst>
          </p:cNvPr>
          <p:cNvSpPr txBox="1">
            <a:spLocks/>
          </p:cNvSpPr>
          <p:nvPr/>
        </p:nvSpPr>
        <p:spPr>
          <a:xfrm>
            <a:off x="1764891" y="2832139"/>
            <a:ext cx="8229600" cy="5892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 b="1">
                <a:solidFill>
                  <a:srgbClr val="1F334D"/>
                </a:solidFill>
              </a:defRPr>
            </a:pPr>
            <a:r>
              <a:rPr lang="en-US" sz="3000" b="1" dirty="0">
                <a:solidFill>
                  <a:srgbClr val="1F334D"/>
                </a:solidFill>
              </a:rPr>
              <a:t>Step 4 (Done): Cointegration &amp; Pair Selection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82A1266-9208-B5F4-2C84-65897A0ED13D}"/>
              </a:ext>
            </a:extLst>
          </p:cNvPr>
          <p:cNvSpPr txBox="1">
            <a:spLocks/>
          </p:cNvSpPr>
          <p:nvPr/>
        </p:nvSpPr>
        <p:spPr>
          <a:xfrm>
            <a:off x="162234" y="3620170"/>
            <a:ext cx="12029766" cy="110433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1600" dirty="0"/>
              <a:t>Inside each stable cluster, tested </a:t>
            </a:r>
            <a:r>
              <a:rPr lang="en-US" sz="1600" b="1" dirty="0"/>
              <a:t>every possible pair.</a:t>
            </a:r>
            <a:r>
              <a:rPr lang="en-US" sz="1600" dirty="0"/>
              <a:t> 670 in total, with the </a:t>
            </a:r>
            <a:r>
              <a:rPr lang="en-US" sz="1600" b="1" dirty="0"/>
              <a:t>Engle-Granger cointegration test</a:t>
            </a:r>
            <a:r>
              <a:rPr lang="en-US" sz="1600" dirty="0"/>
              <a:t>, which checks whether the gap between two prices reliably snaps back to normal rather than drifting apart forever.</a:t>
            </a:r>
          </a:p>
          <a:p>
            <a:pPr>
              <a:spcAft>
                <a:spcPts val="800"/>
              </a:spcAft>
            </a:pPr>
            <a:r>
              <a:rPr lang="en-US" sz="1600" b="1" dirty="0"/>
              <a:t>114 pairs</a:t>
            </a:r>
            <a:r>
              <a:rPr lang="en-US" sz="1600" dirty="0"/>
              <a:t> passed the statistical test. Cross-checked the top pairs with a second test (</a:t>
            </a:r>
            <a:r>
              <a:rPr lang="en-US" sz="1600" b="1" dirty="0"/>
              <a:t>Johansen</a:t>
            </a:r>
            <a:r>
              <a:rPr lang="en-US" sz="1600" dirty="0"/>
              <a:t>) as a robustness check.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0958BF1-23F3-587B-A53E-9CCC88268A1D}"/>
              </a:ext>
            </a:extLst>
          </p:cNvPr>
          <p:cNvSpPr txBox="1">
            <a:spLocks/>
          </p:cNvSpPr>
          <p:nvPr/>
        </p:nvSpPr>
        <p:spPr>
          <a:xfrm>
            <a:off x="243349" y="4861937"/>
            <a:ext cx="11272684" cy="639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 b="1">
                <a:solidFill>
                  <a:srgbClr val="1F334D"/>
                </a:solidFill>
              </a:defRPr>
            </a:pPr>
            <a:r>
              <a:rPr lang="en-US" sz="3000" b="1" dirty="0">
                <a:solidFill>
                  <a:srgbClr val="1F334D"/>
                </a:solidFill>
              </a:rPr>
              <a:t>Step 5 (Done): Trading Results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10042E-0357-BF4A-443F-1EBF8AA8F524}"/>
              </a:ext>
            </a:extLst>
          </p:cNvPr>
          <p:cNvSpPr txBox="1">
            <a:spLocks/>
          </p:cNvSpPr>
          <p:nvPr/>
        </p:nvSpPr>
        <p:spPr>
          <a:xfrm>
            <a:off x="127820" y="5671752"/>
            <a:ext cx="11936360" cy="102501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en-IN" sz="1600" b="1" dirty="0"/>
              <a:t>Single pair</a:t>
            </a:r>
            <a:r>
              <a:rPr lang="en-IN" sz="1600" dirty="0"/>
              <a:t> (Northern Trust – Regions Financial): </a:t>
            </a:r>
            <a:r>
              <a:rPr lang="en-IN" sz="1600" b="1" dirty="0"/>
              <a:t>+42.8%</a:t>
            </a:r>
            <a:r>
              <a:rPr lang="en-IN" sz="1600" dirty="0"/>
              <a:t> cumulative return, Sharpe ratio 0.58, 69% of trades profitable.</a:t>
            </a:r>
          </a:p>
          <a:p>
            <a:pPr>
              <a:spcAft>
                <a:spcPts val="800"/>
              </a:spcAft>
            </a:pPr>
            <a:r>
              <a:rPr lang="en-IN" sz="1600" b="1" dirty="0"/>
              <a:t>Diversified portfolio</a:t>
            </a:r>
            <a:r>
              <a:rPr lang="en-IN" sz="1600" dirty="0"/>
              <a:t> (10 pairs, no overlapping stocks): </a:t>
            </a:r>
            <a:r>
              <a:rPr lang="en-IN" sz="1600" b="1" dirty="0"/>
              <a:t>+12.3%</a:t>
            </a:r>
            <a:r>
              <a:rPr lang="en-IN" sz="1600" dirty="0"/>
              <a:t> cumulative return, smaller swings (max drawdown −8%), and confirmed close to </a:t>
            </a:r>
            <a:r>
              <a:rPr lang="en-IN" sz="1600" b="1" dirty="0"/>
              <a:t>zero exposure to the overall market</a:t>
            </a:r>
            <a:r>
              <a:rPr lang="en-IN" sz="1600" dirty="0"/>
              <a:t> (beta ≈ +0.09), i.e. genuinely market-neutral.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57749"/>
          </a:xfrm>
        </p:spPr>
        <p:txBody>
          <a:bodyPr/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rPr dirty="0"/>
              <a:t>Problems Encountered &amp; How I Fixed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6143" y="1600200"/>
            <a:ext cx="11867534" cy="3315929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 dirty="0"/>
              <a:t>HDBSCAN first attempt failed</a:t>
            </a:r>
            <a:r>
              <a:rPr lang="en-IN" sz="1600" b="1" dirty="0"/>
              <a:t>,</a:t>
            </a:r>
            <a:r>
              <a:rPr sz="1600" dirty="0"/>
              <a:t> everything collapsed into one giant cluster, no matter the settings. Root cause: I was only feeding it each stock's </a:t>
            </a:r>
            <a:r>
              <a:rPr sz="1600" i="1" dirty="0"/>
              <a:t>average</a:t>
            </a:r>
            <a:r>
              <a:rPr sz="1600" dirty="0"/>
              <a:t> latent representation across time, which erased how </a:t>
            </a:r>
            <a:r>
              <a:rPr sz="1600" i="1" dirty="0"/>
              <a:t>variable</a:t>
            </a:r>
            <a:r>
              <a:rPr sz="1600" dirty="0"/>
              <a:t> a stock's behavior was.</a:t>
            </a:r>
            <a:br>
              <a:rPr lang="en-IN" sz="1600" dirty="0"/>
            </a:br>
            <a:br>
              <a:rPr lang="en-IN" sz="1600" dirty="0"/>
            </a:br>
            <a:r>
              <a:rPr sz="1600" b="1" dirty="0"/>
              <a:t>Fix:</a:t>
            </a:r>
            <a:r>
              <a:rPr sz="1600" dirty="0"/>
              <a:t> also feed in the </a:t>
            </a:r>
            <a:r>
              <a:rPr sz="1600" i="1" dirty="0"/>
              <a:t>variability</a:t>
            </a:r>
            <a:r>
              <a:rPr sz="1600" dirty="0"/>
              <a:t> (standard deviation) of each latent dimension, and use a different clustering setting (</a:t>
            </a:r>
            <a:r>
              <a:rPr sz="1600" dirty="0">
                <a:latin typeface="Consolas"/>
              </a:rPr>
              <a:t>leaf</a:t>
            </a:r>
            <a:r>
              <a:rPr sz="1600" dirty="0"/>
              <a:t> mode) that keeps small, tight groups instead of merging them back together.</a:t>
            </a:r>
            <a:endParaRPr lang="en-IN" sz="1600" dirty="0"/>
          </a:p>
          <a:p>
            <a:pPr>
              <a:spcAft>
                <a:spcPts val="800"/>
              </a:spcAft>
            </a:pPr>
            <a:endParaRPr lang="en-IN" sz="1600" dirty="0"/>
          </a:p>
          <a:p>
            <a:pPr marL="0" indent="0">
              <a:spcAft>
                <a:spcPts val="800"/>
              </a:spcAft>
              <a:buNone/>
            </a:pPr>
            <a:endParaRPr sz="1600" dirty="0"/>
          </a:p>
          <a:p>
            <a:pPr>
              <a:spcAft>
                <a:spcPts val="800"/>
              </a:spcAft>
            </a:pPr>
            <a:r>
              <a:rPr sz="1600" b="1" dirty="0"/>
              <a:t>2 of the 12 VAE latent dimensions collapsed</a:t>
            </a:r>
            <a:r>
              <a:rPr sz="1600" dirty="0"/>
              <a:t> (they stopped carrying any information).</a:t>
            </a:r>
            <a:br>
              <a:rPr lang="en-IN" sz="1600" dirty="0"/>
            </a:br>
            <a:br>
              <a:rPr lang="en-IN" sz="1600" dirty="0"/>
            </a:br>
            <a:r>
              <a:rPr sz="1600" b="1" dirty="0"/>
              <a:t>Fix:</a:t>
            </a:r>
            <a:r>
              <a:rPr sz="1600" dirty="0"/>
              <a:t> simply excluded those 2 dimensions from clustering and kept the other 10, rather than shrinking or retraining the whole VAE.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977716" cy="541439"/>
          </a:xfrm>
        </p:spPr>
        <p:txBody>
          <a:bodyPr>
            <a:normAutofit fontScale="90000"/>
          </a:bodyPr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rPr dirty="0"/>
              <a:t>What's Left To Do (Steps 6–10)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471" y="1600200"/>
            <a:ext cx="11611897" cy="4525963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600" b="1" dirty="0"/>
              <a:t>Step 6</a:t>
            </a:r>
            <a:r>
              <a:rPr lang="en-IN" sz="1600" b="1" dirty="0"/>
              <a:t>, </a:t>
            </a:r>
            <a:r>
              <a:rPr sz="1600" b="1" dirty="0"/>
              <a:t>Walk-forward test:</a:t>
            </a:r>
            <a:r>
              <a:rPr sz="1600" dirty="0"/>
              <a:t> re-run the whole pipeline on a rolling schedule across 2020 onward (frozen VAE, but clusters and pairs refreshed every quarter), chained into one continuous, realistic result. This is the </a:t>
            </a:r>
            <a:r>
              <a:rPr sz="1600" b="1" dirty="0"/>
              <a:t>headline result</a:t>
            </a:r>
            <a:r>
              <a:rPr sz="1600" dirty="0"/>
              <a:t> of the dissertation.</a:t>
            </a:r>
          </a:p>
          <a:p>
            <a:pPr>
              <a:spcAft>
                <a:spcPts val="800"/>
              </a:spcAft>
            </a:pPr>
            <a:r>
              <a:rPr sz="1600" b="1" dirty="0"/>
              <a:t>Step 7</a:t>
            </a:r>
            <a:r>
              <a:rPr lang="en-IN" sz="1600" b="1" dirty="0"/>
              <a:t>, </a:t>
            </a:r>
            <a:r>
              <a:rPr sz="1600" b="1" dirty="0"/>
              <a:t>Pair persistence &amp; turnover:</a:t>
            </a:r>
            <a:r>
              <a:rPr sz="1600" dirty="0"/>
              <a:t> check how long pairs stay reliable before they stop working, and whether that relates to overall market volatility.</a:t>
            </a:r>
          </a:p>
          <a:p>
            <a:pPr>
              <a:spcAft>
                <a:spcPts val="800"/>
              </a:spcAft>
            </a:pPr>
            <a:r>
              <a:rPr sz="1600" b="1" dirty="0"/>
              <a:t>Step 8</a:t>
            </a:r>
            <a:r>
              <a:rPr lang="en-IN" sz="1600" b="1" dirty="0"/>
              <a:t>, </a:t>
            </a:r>
            <a:r>
              <a:rPr sz="1600" b="1" dirty="0"/>
              <a:t>Transaction costs:</a:t>
            </a:r>
            <a:r>
              <a:rPr sz="1600" dirty="0"/>
              <a:t> add realistic commissions and slippage to every trade, and check the strategy still makes money after fees.</a:t>
            </a:r>
          </a:p>
          <a:p>
            <a:pPr>
              <a:spcAft>
                <a:spcPts val="800"/>
              </a:spcAft>
            </a:pPr>
            <a:r>
              <a:rPr sz="1600" b="1" dirty="0"/>
              <a:t>Step 9</a:t>
            </a:r>
            <a:r>
              <a:rPr lang="en-IN" sz="1600" b="1" dirty="0"/>
              <a:t>, </a:t>
            </a:r>
            <a:r>
              <a:rPr sz="1600" b="1" dirty="0"/>
              <a:t>Benchmark comparison:</a:t>
            </a:r>
            <a:r>
              <a:rPr sz="1600" dirty="0"/>
              <a:t> re-run the exact same pipeline with </a:t>
            </a:r>
            <a:r>
              <a:rPr sz="1600" b="1" dirty="0"/>
              <a:t>GARCH</a:t>
            </a:r>
            <a:r>
              <a:rPr sz="1600" dirty="0"/>
              <a:t> instead of the VAE, and with a simple </a:t>
            </a:r>
            <a:r>
              <a:rPr sz="1600" b="1" dirty="0"/>
              <a:t>rolling-correlation</a:t>
            </a:r>
            <a:r>
              <a:rPr sz="1600" dirty="0"/>
              <a:t> pair selector instead of VAE+HDBSCAN, plus a </a:t>
            </a:r>
            <a:r>
              <a:rPr sz="1600" b="1" dirty="0"/>
              <a:t>buy-and-hold</a:t>
            </a:r>
            <a:r>
              <a:rPr sz="1600" dirty="0"/>
              <a:t> baseline to see whether the AI step actually earns its keep.</a:t>
            </a:r>
          </a:p>
          <a:p>
            <a:pPr>
              <a:spcAft>
                <a:spcPts val="800"/>
              </a:spcAft>
            </a:pPr>
            <a:r>
              <a:rPr sz="1600" b="1" dirty="0"/>
              <a:t>Step 10</a:t>
            </a:r>
            <a:r>
              <a:rPr lang="en-IN" sz="1600" b="1" dirty="0"/>
              <a:t>, </a:t>
            </a:r>
            <a:r>
              <a:rPr sz="1600" b="1" dirty="0"/>
              <a:t>Results &amp; write-up:</a:t>
            </a:r>
            <a:r>
              <a:rPr sz="1600" dirty="0"/>
              <a:t> compile final figures, tables, and the dissertation chapters.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t>Time Plan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1064238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98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2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12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Period</a:t>
                      </a:r>
                    </a:p>
                  </a:txBody>
                  <a:tcPr marT="38100" marB="38100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Milestone</a:t>
                      </a:r>
                    </a:p>
                  </a:txBody>
                  <a:tcPr marT="38100" marB="38100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T="38100" marB="38100"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300"/>
                        <a:t>April 2026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Data collection, VAE training &amp; validation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✅ Done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300"/>
                        <a:t>May 2026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Clustering, cointegration, pair selection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✅ Done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300" dirty="0"/>
                        <a:t>June 2026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Single-pair &amp; portfolio strategy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✅ Done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300" b="1"/>
                        <a:t>July–August 2026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 b="1"/>
                        <a:t>Walk-forward backtest, turnover, transaction costs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⏳ In progress (today: 10 July)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300"/>
                        <a:t>August–September 2026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Benchmark vs GARCH / Correlation / Buy &amp; Hold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⏳ Upcoming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396">
                <a:tc>
                  <a:txBody>
                    <a:bodyPr/>
                    <a:lstStyle/>
                    <a:p>
                      <a:r>
                        <a:rPr sz="1300"/>
                        <a:t>September 2026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/>
                        <a:t>Final write-up</a:t>
                      </a:r>
                    </a:p>
                  </a:txBody>
                  <a:tcPr marT="38100" marB="38100" anchor="ctr"/>
                </a:tc>
                <a:tc>
                  <a:txBody>
                    <a:bodyPr/>
                    <a:lstStyle/>
                    <a:p>
                      <a:r>
                        <a:rPr sz="1300" dirty="0"/>
                        <a:t>⏳ Upcoming</a:t>
                      </a:r>
                    </a:p>
                  </a:txBody>
                  <a:tcPr marT="38100" marB="381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645" y="516755"/>
            <a:ext cx="11798709" cy="354627"/>
          </a:xfrm>
        </p:spPr>
        <p:txBody>
          <a:bodyPr>
            <a:normAutofit fontScale="90000"/>
          </a:bodyPr>
          <a:lstStyle/>
          <a:p>
            <a:pPr>
              <a:defRPr sz="3000" b="1">
                <a:solidFill>
                  <a:srgbClr val="1F334D"/>
                </a:solidFill>
              </a:defRPr>
            </a:pPr>
            <a:r>
              <a:rPr dirty="0"/>
              <a:t>Is This Ethical?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7485" y="1290151"/>
            <a:ext cx="12044515" cy="1546123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1600" dirty="0"/>
              <a:t>All data is </a:t>
            </a:r>
            <a:r>
              <a:rPr sz="1600" b="1" dirty="0"/>
              <a:t>public, already-published stock prices</a:t>
            </a:r>
            <a:r>
              <a:rPr lang="en-IN" sz="1600" b="1" dirty="0"/>
              <a:t>,</a:t>
            </a:r>
            <a:r>
              <a:rPr sz="1600" dirty="0"/>
              <a:t> nothing</a:t>
            </a:r>
            <a:r>
              <a:rPr lang="en-IN" sz="1600" dirty="0"/>
              <a:t> is</a:t>
            </a:r>
            <a:r>
              <a:rPr sz="1600" dirty="0"/>
              <a:t> private, no personal data, no human participants involved.</a:t>
            </a:r>
          </a:p>
          <a:p>
            <a:pPr>
              <a:spcAft>
                <a:spcPts val="800"/>
              </a:spcAft>
            </a:pPr>
            <a:r>
              <a:rPr sz="1600" b="1" dirty="0"/>
              <a:t>No real money is traded and no advice is given to any real investor</a:t>
            </a:r>
            <a:r>
              <a:rPr lang="en-IN" sz="1600" b="1" dirty="0"/>
              <a:t>,</a:t>
            </a:r>
            <a:r>
              <a:rPr sz="1600" b="1" dirty="0"/>
              <a:t> this is a research simulation.</a:t>
            </a:r>
          </a:p>
          <a:p>
            <a:pPr>
              <a:spcAft>
                <a:spcPts val="800"/>
              </a:spcAft>
            </a:pPr>
            <a:r>
              <a:rPr sz="1600" b="1" dirty="0"/>
              <a:t>The dissertation will state clearly that results are a research output, not financial advice, and that a good </a:t>
            </a:r>
            <a:r>
              <a:rPr sz="1600" b="1" dirty="0" err="1"/>
              <a:t>backtest</a:t>
            </a:r>
            <a:r>
              <a:rPr sz="1600" b="1" dirty="0"/>
              <a:t> does not guarantee live-trading success.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BFBA48C-19EC-6E84-1494-BE75F9809BEA}"/>
              </a:ext>
            </a:extLst>
          </p:cNvPr>
          <p:cNvSpPr txBox="1">
            <a:spLocks/>
          </p:cNvSpPr>
          <p:nvPr/>
        </p:nvSpPr>
        <p:spPr>
          <a:xfrm>
            <a:off x="196645" y="3218835"/>
            <a:ext cx="11420168" cy="685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3000" b="1">
                <a:solidFill>
                  <a:srgbClr val="1F334D"/>
                </a:solidFill>
              </a:defRPr>
            </a:pPr>
            <a:r>
              <a:rPr lang="en-IN" sz="3000" b="1" dirty="0">
                <a:solidFill>
                  <a:srgbClr val="1F334D"/>
                </a:solidFill>
              </a:rPr>
              <a:t>Legal &amp; Professional Issues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7802E7F-5265-1549-FF23-79720BE29305}"/>
              </a:ext>
            </a:extLst>
          </p:cNvPr>
          <p:cNvSpPr txBox="1">
            <a:spLocks/>
          </p:cNvSpPr>
          <p:nvPr/>
        </p:nvSpPr>
        <p:spPr>
          <a:xfrm>
            <a:off x="250723" y="4136925"/>
            <a:ext cx="11838038" cy="108400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1600" dirty="0"/>
              <a:t>Stock price data (Yahoo Finance) and all software used (</a:t>
            </a:r>
            <a:r>
              <a:rPr lang="en-US" sz="1600" dirty="0" err="1"/>
              <a:t>PyTorch</a:t>
            </a:r>
            <a:r>
              <a:rPr lang="en-US" sz="1600" dirty="0"/>
              <a:t>, HDBSCAN, </a:t>
            </a:r>
            <a:r>
              <a:rPr lang="en-US" sz="1600" dirty="0" err="1"/>
              <a:t>statsmodels</a:t>
            </a:r>
            <a:r>
              <a:rPr lang="en-US" sz="1600" dirty="0"/>
              <a:t>, etc.) are free, open-source, and licensed for research use.</a:t>
            </a:r>
          </a:p>
          <a:p>
            <a:pPr>
              <a:spcAft>
                <a:spcPts val="800"/>
              </a:spcAft>
            </a:pPr>
            <a:r>
              <a:rPr lang="en-US" sz="1600" dirty="0"/>
              <a:t>No personally identifiable information is processed at any point, so </a:t>
            </a:r>
            <a:r>
              <a:rPr lang="en-US" sz="1600" b="1" dirty="0"/>
              <a:t>GDPR / UK Data Protection Act</a:t>
            </a:r>
            <a:r>
              <a:rPr lang="en-US" sz="1600" dirty="0"/>
              <a:t> do not apply.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366400"/>
            <a:ext cx="7772400" cy="1470025"/>
          </a:xfrm>
        </p:spPr>
        <p:txBody>
          <a:bodyPr/>
          <a:lstStyle/>
          <a:p>
            <a:pPr>
              <a:defRPr sz="4000" b="1">
                <a:solidFill>
                  <a:srgbClr val="1F334D"/>
                </a:solidFill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1983</Words>
  <Application>Microsoft Office PowerPoint</Application>
  <PresentationFormat>Widescreen</PresentationFormat>
  <Paragraphs>150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An Unsupervised-Learning Approach to Adaptive Market-Neutral Pairs Trading</vt:lpstr>
      <vt:lpstr>What Is "Pairs Trading"?</vt:lpstr>
      <vt:lpstr>What My Project Does</vt:lpstr>
      <vt:lpstr>What Others Have Done Before</vt:lpstr>
      <vt:lpstr>The Pipeline, End to End</vt:lpstr>
      <vt:lpstr>My Plan, In 10 Steps</vt:lpstr>
      <vt:lpstr>Step 1 (Done): Getting Clean Data</vt:lpstr>
      <vt:lpstr>Step 3 (Done): HDBSCAN Clustering</vt:lpstr>
      <vt:lpstr>Problems Encountered &amp; How I Fixed Them</vt:lpstr>
      <vt:lpstr>What's Left To Do (Steps 6–10)</vt:lpstr>
      <vt:lpstr>Time Plan</vt:lpstr>
      <vt:lpstr>Is This Ethical?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Devaraj, Lalith Aditya</cp:lastModifiedBy>
  <cp:revision>11</cp:revision>
  <dcterms:created xsi:type="dcterms:W3CDTF">2013-01-27T09:14:16Z</dcterms:created>
  <dcterms:modified xsi:type="dcterms:W3CDTF">2026-07-10T08:18:10Z</dcterms:modified>
  <cp:category/>
</cp:coreProperties>
</file>